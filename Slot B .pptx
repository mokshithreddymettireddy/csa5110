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9" r:id="rId3"/>
    <p:sldId id="257" r:id="rId4"/>
    <p:sldId id="273" r:id="rId5"/>
    <p:sldId id="261" r:id="rId6"/>
    <p:sldId id="270" r:id="rId7"/>
    <p:sldId id="271" r:id="rId8"/>
    <p:sldId id="275" r:id="rId9"/>
    <p:sldId id="262" r:id="rId10"/>
    <p:sldId id="263" r:id="rId11"/>
    <p:sldId id="26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99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301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kshith reddy" userId="e90291e088ce550a" providerId="LiveId" clId="{5E114808-862B-4506-85C6-A002ADCE448B}"/>
    <pc:docChg chg="undo custSel delSld modSld">
      <pc:chgData name="mokshith reddy" userId="e90291e088ce550a" providerId="LiveId" clId="{5E114808-862B-4506-85C6-A002ADCE448B}" dt="2026-09-03T10:08:02.383" v="215" actId="20577"/>
      <pc:docMkLst>
        <pc:docMk/>
      </pc:docMkLst>
      <pc:sldChg chg="modSp mod">
        <pc:chgData name="mokshith reddy" userId="e90291e088ce550a" providerId="LiveId" clId="{5E114808-862B-4506-85C6-A002ADCE448B}" dt="2026-09-03T10:08:02.383" v="215" actId="20577"/>
        <pc:sldMkLst>
          <pc:docMk/>
          <pc:sldMk cId="0" sldId="256"/>
        </pc:sldMkLst>
        <pc:spChg chg="mod">
          <ac:chgData name="mokshith reddy" userId="e90291e088ce550a" providerId="LiveId" clId="{5E114808-862B-4506-85C6-A002ADCE448B}" dt="2026-08-06T04:16:19.502" v="17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okshith reddy" userId="e90291e088ce550a" providerId="LiveId" clId="{5E114808-862B-4506-85C6-A002ADCE448B}" dt="2026-09-03T10:08:02.383" v="215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mokshith reddy" userId="e90291e088ce550a" providerId="LiveId" clId="{5E114808-862B-4506-85C6-A002ADCE448B}" dt="2026-08-06T04:02:36.681" v="3" actId="1076"/>
        <pc:sldMkLst>
          <pc:docMk/>
          <pc:sldMk cId="0" sldId="261"/>
        </pc:sldMkLst>
        <pc:picChg chg="add mod">
          <ac:chgData name="mokshith reddy" userId="e90291e088ce550a" providerId="LiveId" clId="{5E114808-862B-4506-85C6-A002ADCE448B}" dt="2026-08-06T04:02:36.681" v="3" actId="1076"/>
          <ac:picMkLst>
            <pc:docMk/>
            <pc:sldMk cId="0" sldId="261"/>
            <ac:picMk id="7" creationId="{A97AF3FB-18E0-7919-A1ED-CD202900A8FF}"/>
          </ac:picMkLst>
        </pc:picChg>
      </pc:sldChg>
      <pc:sldChg chg="addSp modSp mod">
        <pc:chgData name="mokshith reddy" userId="e90291e088ce550a" providerId="LiveId" clId="{5E114808-862B-4506-85C6-A002ADCE448B}" dt="2026-08-06T04:18:12.493" v="27" actId="1076"/>
        <pc:sldMkLst>
          <pc:docMk/>
          <pc:sldMk cId="0" sldId="262"/>
        </pc:sldMkLst>
        <pc:spChg chg="mod">
          <ac:chgData name="mokshith reddy" userId="e90291e088ce550a" providerId="LiveId" clId="{5E114808-862B-4506-85C6-A002ADCE448B}" dt="2026-08-06T04:18:08.314" v="26" actId="1076"/>
          <ac:spMkLst>
            <pc:docMk/>
            <pc:sldMk cId="0" sldId="262"/>
            <ac:spMk id="3" creationId="{00000000-0000-0000-0000-000000000000}"/>
          </ac:spMkLst>
        </pc:spChg>
        <pc:graphicFrameChg chg="add mod">
          <ac:chgData name="mokshith reddy" userId="e90291e088ce550a" providerId="LiveId" clId="{5E114808-862B-4506-85C6-A002ADCE448B}" dt="2026-08-06T04:18:12.493" v="27" actId="1076"/>
          <ac:graphicFrameMkLst>
            <pc:docMk/>
            <pc:sldMk cId="0" sldId="262"/>
            <ac:graphicFrameMk id="7" creationId="{051026C4-8531-B211-E56E-FDCB982F97D3}"/>
          </ac:graphicFrameMkLst>
        </pc:graphicFrameChg>
      </pc:sldChg>
      <pc:sldChg chg="modSp mod">
        <pc:chgData name="mokshith reddy" userId="e90291e088ce550a" providerId="LiveId" clId="{5E114808-862B-4506-85C6-A002ADCE448B}" dt="2026-08-06T04:19:02.411" v="31" actId="1076"/>
        <pc:sldMkLst>
          <pc:docMk/>
          <pc:sldMk cId="0" sldId="263"/>
        </pc:sldMkLst>
        <pc:spChg chg="mod">
          <ac:chgData name="mokshith reddy" userId="e90291e088ce550a" providerId="LiveId" clId="{5E114808-862B-4506-85C6-A002ADCE448B}" dt="2026-08-06T04:19:02.411" v="31" actId="1076"/>
          <ac:spMkLst>
            <pc:docMk/>
            <pc:sldMk cId="0" sldId="263"/>
            <ac:spMk id="3" creationId="{00000000-0000-0000-0000-000000000000}"/>
          </ac:spMkLst>
        </pc:spChg>
      </pc:sldChg>
      <pc:sldChg chg="addSp delSp modSp mod">
        <pc:chgData name="mokshith reddy" userId="e90291e088ce550a" providerId="LiveId" clId="{5E114808-862B-4506-85C6-A002ADCE448B}" dt="2026-08-06T04:22:02.107" v="96" actId="20577"/>
        <pc:sldMkLst>
          <pc:docMk/>
          <pc:sldMk cId="2059672120" sldId="270"/>
        </pc:sldMkLst>
        <pc:spChg chg="mod">
          <ac:chgData name="mokshith reddy" userId="e90291e088ce550a" providerId="LiveId" clId="{5E114808-862B-4506-85C6-A002ADCE448B}" dt="2026-08-06T04:22:02.107" v="96" actId="20577"/>
          <ac:spMkLst>
            <pc:docMk/>
            <pc:sldMk cId="2059672120" sldId="270"/>
            <ac:spMk id="3" creationId="{80786CDA-85A7-67F3-680A-E6FFB12C413C}"/>
          </ac:spMkLst>
        </pc:spChg>
        <pc:spChg chg="mod">
          <ac:chgData name="mokshith reddy" userId="e90291e088ce550a" providerId="LiveId" clId="{5E114808-862B-4506-85C6-A002ADCE448B}" dt="2026-08-06T04:21:51.181" v="73" actId="1076"/>
          <ac:spMkLst>
            <pc:docMk/>
            <pc:sldMk cId="2059672120" sldId="270"/>
            <ac:spMk id="6" creationId="{8745D192-C432-ECF8-04EB-B6DF5B83A31A}"/>
          </ac:spMkLst>
        </pc:spChg>
        <pc:spChg chg="add mod">
          <ac:chgData name="mokshith reddy" userId="e90291e088ce550a" providerId="LiveId" clId="{5E114808-862B-4506-85C6-A002ADCE448B}" dt="2026-08-06T04:21:54.851" v="74" actId="1076"/>
          <ac:spMkLst>
            <pc:docMk/>
            <pc:sldMk cId="2059672120" sldId="270"/>
            <ac:spMk id="10" creationId="{75CB83E8-EB0E-1E39-42A4-B1811B8B780D}"/>
          </ac:spMkLst>
        </pc:spChg>
        <pc:spChg chg="add mod">
          <ac:chgData name="mokshith reddy" userId="e90291e088ce550a" providerId="LiveId" clId="{5E114808-862B-4506-85C6-A002ADCE448B}" dt="2026-08-06T04:21:37.280" v="71" actId="14100"/>
          <ac:spMkLst>
            <pc:docMk/>
            <pc:sldMk cId="2059672120" sldId="270"/>
            <ac:spMk id="12" creationId="{35EE7796-E24F-ED5A-92FC-95F46DC78C79}"/>
          </ac:spMkLst>
        </pc:spChg>
        <pc:spChg chg="add mod">
          <ac:chgData name="mokshith reddy" userId="e90291e088ce550a" providerId="LiveId" clId="{5E114808-862B-4506-85C6-A002ADCE448B}" dt="2026-08-06T04:21:37.280" v="71" actId="14100"/>
          <ac:spMkLst>
            <pc:docMk/>
            <pc:sldMk cId="2059672120" sldId="270"/>
            <ac:spMk id="14" creationId="{E031EED4-DEB7-26D2-765C-B06FF752E37F}"/>
          </ac:spMkLst>
        </pc:spChg>
        <pc:spChg chg="add mod">
          <ac:chgData name="mokshith reddy" userId="e90291e088ce550a" providerId="LiveId" clId="{5E114808-862B-4506-85C6-A002ADCE448B}" dt="2026-08-06T04:21:37.280" v="71" actId="14100"/>
          <ac:spMkLst>
            <pc:docMk/>
            <pc:sldMk cId="2059672120" sldId="270"/>
            <ac:spMk id="16" creationId="{48FC365B-AE05-B217-F1E6-FCFDAFA16F82}"/>
          </ac:spMkLst>
        </pc:spChg>
        <pc:spChg chg="add mod">
          <ac:chgData name="mokshith reddy" userId="e90291e088ce550a" providerId="LiveId" clId="{5E114808-862B-4506-85C6-A002ADCE448B}" dt="2026-08-06T04:21:37.280" v="71" actId="14100"/>
          <ac:spMkLst>
            <pc:docMk/>
            <pc:sldMk cId="2059672120" sldId="270"/>
            <ac:spMk id="18" creationId="{9F0F8BDF-A4DA-3682-DC54-A2B20DAC83D0}"/>
          </ac:spMkLst>
        </pc:spChg>
      </pc:sldChg>
      <pc:sldChg chg="addSp modSp mod">
        <pc:chgData name="mokshith reddy" userId="e90291e088ce550a" providerId="LiveId" clId="{5E114808-862B-4506-85C6-A002ADCE448B}" dt="2026-08-06T04:20:36.015" v="46" actId="1076"/>
        <pc:sldMkLst>
          <pc:docMk/>
          <pc:sldMk cId="31655939" sldId="271"/>
        </pc:sldMkLst>
        <pc:spChg chg="mod">
          <ac:chgData name="mokshith reddy" userId="e90291e088ce550a" providerId="LiveId" clId="{5E114808-862B-4506-85C6-A002ADCE448B}" dt="2026-08-06T04:20:29.131" v="42" actId="1076"/>
          <ac:spMkLst>
            <pc:docMk/>
            <pc:sldMk cId="31655939" sldId="271"/>
            <ac:spMk id="15" creationId="{F0CD8DEA-4E57-E00E-92D9-CE0E318F56C5}"/>
          </ac:spMkLst>
        </pc:spChg>
        <pc:picChg chg="add mod">
          <ac:chgData name="mokshith reddy" userId="e90291e088ce550a" providerId="LiveId" clId="{5E114808-862B-4506-85C6-A002ADCE448B}" dt="2026-08-06T04:20:36.015" v="46" actId="1076"/>
          <ac:picMkLst>
            <pc:docMk/>
            <pc:sldMk cId="31655939" sldId="271"/>
            <ac:picMk id="7" creationId="{266947AD-DFA9-5F9E-1AA1-22B51327A653}"/>
          </ac:picMkLst>
        </pc:picChg>
      </pc:sldChg>
      <pc:sldChg chg="addSp modSp mod">
        <pc:chgData name="mokshith reddy" userId="e90291e088ce550a" providerId="LiveId" clId="{5E114808-862B-4506-85C6-A002ADCE448B}" dt="2026-08-06T04:19:53.759" v="41" actId="1076"/>
        <pc:sldMkLst>
          <pc:docMk/>
          <pc:sldMk cId="3098240892" sldId="275"/>
        </pc:sldMkLst>
        <pc:spChg chg="mod">
          <ac:chgData name="mokshith reddy" userId="e90291e088ce550a" providerId="LiveId" clId="{5E114808-862B-4506-85C6-A002ADCE448B}" dt="2026-08-06T04:19:43.010" v="37" actId="1076"/>
          <ac:spMkLst>
            <pc:docMk/>
            <pc:sldMk cId="3098240892" sldId="275"/>
            <ac:spMk id="3" creationId="{8C61C998-E582-9C99-CA33-AC6B1102A90A}"/>
          </ac:spMkLst>
        </pc:spChg>
        <pc:spChg chg="mod">
          <ac:chgData name="mokshith reddy" userId="e90291e088ce550a" providerId="LiveId" clId="{5E114808-862B-4506-85C6-A002ADCE448B}" dt="2026-08-06T04:19:46.073" v="38" actId="1076"/>
          <ac:spMkLst>
            <pc:docMk/>
            <pc:sldMk cId="3098240892" sldId="275"/>
            <ac:spMk id="15" creationId="{52DC0107-5B9D-4834-BF6A-4745BC01AEB0}"/>
          </ac:spMkLst>
        </pc:spChg>
        <pc:picChg chg="add mod">
          <ac:chgData name="mokshith reddy" userId="e90291e088ce550a" providerId="LiveId" clId="{5E114808-862B-4506-85C6-A002ADCE448B}" dt="2026-08-06T04:19:53.759" v="41" actId="1076"/>
          <ac:picMkLst>
            <pc:docMk/>
            <pc:sldMk cId="3098240892" sldId="275"/>
            <ac:picMk id="7" creationId="{F8C990C4-FB7F-13EC-F3FA-C2454919CCAF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t>Model Performance Comparison (Proposed Metrics)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 Accuracy (%)</c:v>
                </c:pt>
              </c:strCache>
            </c:strRef>
          </c:tx>
          <c:spPr>
            <a:ln w="31750" cap="flat">
              <a:solidFill>
                <a:srgbClr val="3FBFB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FBFB0"/>
              </a:solidFill>
              <a:ln w="9525" cap="flat">
                <a:solidFill>
                  <a:srgbClr val="3FBFB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Decision Tree</c:v>
                </c:pt>
                <c:pt idx="1">
                  <c:v>Random Forest</c:v>
                </c:pt>
                <c:pt idx="2">
                  <c:v>SVM</c:v>
                </c:pt>
                <c:pt idx="3">
                  <c:v>KNN</c:v>
                </c:pt>
                <c:pt idx="4">
                  <c:v>Logistic Reg.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97.4</c:v>
                </c:pt>
                <c:pt idx="1">
                  <c:v>99.2</c:v>
                </c:pt>
                <c:pt idx="2">
                  <c:v>95.8</c:v>
                </c:pt>
                <c:pt idx="3">
                  <c:v>93.5</c:v>
                </c:pt>
                <c:pt idx="4">
                  <c:v>88.6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A1-4EDA-A337-46AA8961D0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 (%)</c:v>
                </c:pt>
              </c:strCache>
            </c:strRef>
          </c:tx>
          <c:spPr>
            <a:ln w="31750" cap="flat">
              <a:solidFill>
                <a:srgbClr val="D953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534F"/>
              </a:solidFill>
              <a:ln w="9525" cap="flat">
                <a:solidFill>
                  <a:srgbClr val="D9534F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Decision Tree</c:v>
                </c:pt>
                <c:pt idx="1">
                  <c:v>Random Forest</c:v>
                </c:pt>
                <c:pt idx="2">
                  <c:v>SVM</c:v>
                </c:pt>
                <c:pt idx="3">
                  <c:v>KNN</c:v>
                </c:pt>
                <c:pt idx="4">
                  <c:v>Logistic Reg.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97.1</c:v>
                </c:pt>
                <c:pt idx="1">
                  <c:v>99.1</c:v>
                </c:pt>
                <c:pt idx="2">
                  <c:v>95.4</c:v>
                </c:pt>
                <c:pt idx="3">
                  <c:v>93.1</c:v>
                </c:pt>
                <c:pt idx="4">
                  <c:v>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BA1-4EDA-A337-46AA8961D0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Evaluated ML Classifiers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542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12700" cap="flat">
              <a:solidFill>
                <a:srgbClr val="E3E9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r>
                  <a:t>Performance Metric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5424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C23E39-FF7A-4538-98BC-5762E813404E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1C20C-17F7-4BE0-8857-AEC6C2E3A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697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1C20C-17F7-4BE0-8857-AEC6C2E3A6B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013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34510"/>
            <a:ext cx="10363200" cy="1535261"/>
          </a:xfrm>
        </p:spPr>
        <p:txBody>
          <a:bodyPr wrap="square">
            <a:norm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2800" b="1">
                <a:latin typeface="Cambria"/>
              </a:rPr>
              <a:t>An Intelligent Machine Learning Framework for Detecting and Mitigating DDoS Attacks in Software-Defined Networks</a:t>
            </a:r>
            <a:endParaRPr lang="en-US" sz="3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405352"/>
            <a:ext cx="8534400" cy="2233448"/>
          </a:xfrm>
        </p:spPr>
        <p:txBody>
          <a:bodyPr wrap="square">
            <a:normAutofit/>
          </a:bodyPr>
          <a:lstStyle/>
          <a:p>
            <a:pPr algn="ctr">
              <a:buNone/>
            </a:pPr>
            <a:r>
              <a:rPr sz="1800" b="1" dirty="0"/>
              <a:t>Presented by: </a:t>
            </a:r>
            <a:endParaRPr lang="en-US" b="1" dirty="0">
              <a:solidFill>
                <a:schemeClr val="tx1"/>
              </a:solidFill>
              <a:latin typeface="+mj-lt"/>
            </a:endParaRPr>
          </a:p>
          <a:p>
            <a:pPr algn="ctr">
              <a:buNone/>
            </a:pPr>
            <a:r>
              <a:rPr lang="en-US" sz="1800" b="1" dirty="0">
                <a:solidFill>
                  <a:schemeClr val="tx1"/>
                </a:solidFill>
                <a:latin typeface="+mj-lt"/>
              </a:rPr>
              <a:t>M. Mokshith Reddy - 192372373</a:t>
            </a:r>
          </a:p>
          <a:p>
            <a:pPr algn="ctr">
              <a:buNone/>
            </a:pPr>
            <a:r>
              <a:rPr lang="en-US" sz="1800" b="1" err="1">
                <a:solidFill>
                  <a:schemeClr val="tx1"/>
                </a:solidFill>
                <a:latin typeface="+mj-lt"/>
              </a:rPr>
              <a:t>G</a:t>
            </a:r>
            <a:r>
              <a:rPr lang="en-US" sz="1800" b="1">
                <a:solidFill>
                  <a:schemeClr val="tx1"/>
                </a:solidFill>
                <a:latin typeface="+mj-lt"/>
              </a:rPr>
              <a:t>. Ramu </a:t>
            </a:r>
            <a:r>
              <a:rPr lang="en-US" sz="1800" b="1" dirty="0">
                <a:solidFill>
                  <a:schemeClr val="tx1"/>
                </a:solidFill>
                <a:latin typeface="+mj-lt"/>
              </a:rPr>
              <a:t>– 192372173</a:t>
            </a:r>
          </a:p>
          <a:p>
            <a:pPr algn="ctr">
              <a:buNone/>
            </a:pPr>
            <a:r>
              <a:rPr lang="en-US" sz="1800" b="1" dirty="0">
                <a:solidFill>
                  <a:schemeClr val="tx1"/>
                </a:solidFill>
                <a:latin typeface="+mj-lt"/>
              </a:rPr>
              <a:t>T. Sanjeeva Reddy - 192372304</a:t>
            </a:r>
            <a:endParaRPr b="1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654D9-1C8B-AFEC-FBDD-E99B0EED2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286" y="274638"/>
            <a:ext cx="8826945" cy="1143000"/>
          </a:xfrm>
        </p:spPr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441EB-9C67-8453-B46C-4E65B09F8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68286"/>
            <a:ext cx="10972800" cy="4057878"/>
          </a:xfrm>
        </p:spPr>
        <p:txBody>
          <a:bodyPr wrap="square">
            <a:noAutofit/>
          </a:bodyPr>
          <a:lstStyle/>
          <a:p>
            <a:r>
              <a:rPr sz="1900" b="1">
                <a:latin typeface="Times New Roman"/>
              </a:rPr>
              <a:t>Software-Defined Networking (SDN)</a:t>
            </a:r>
            <a:r>
              <a:rPr sz="1900">
                <a:latin typeface="Times New Roman"/>
              </a:rPr>
              <a:t> decouples network control from forwarding switches, enabling programmatic traffic management but creating acute vulnerabilities to Distributed Denial-of-Service (DDoS) flooding attacks.</a:t>
            </a:r>
          </a:p>
          <a:p>
            <a:r>
              <a:rPr sz="1900">
                <a:latin typeface="Times New Roman"/>
              </a:rPr>
              <a:t>This project develops an </a:t>
            </a:r>
            <a:r>
              <a:rPr sz="1900" b="1">
                <a:latin typeface="Times New Roman"/>
              </a:rPr>
              <a:t>intelligent Machine Learning (ML) framework</a:t>
            </a:r>
            <a:r>
              <a:rPr sz="1900">
                <a:latin typeface="Times New Roman"/>
              </a:rPr>
              <a:t> to collect traffic telemetry, detect volumetric and protocol DDoS attacks in real time, and deploy dynamic mitigation rules.</a:t>
            </a:r>
          </a:p>
          <a:p>
            <a:r>
              <a:rPr sz="1900">
                <a:latin typeface="Times New Roman"/>
              </a:rPr>
              <a:t>OpenFlow switch statistics are queried periodically, followed by </a:t>
            </a:r>
            <a:r>
              <a:rPr sz="1900" b="1">
                <a:latin typeface="Times New Roman"/>
              </a:rPr>
              <a:t>data cleaning, normalization, and feature selection</a:t>
            </a:r>
            <a:r>
              <a:rPr sz="1900">
                <a:latin typeface="Times New Roman"/>
              </a:rPr>
              <a:t> to isolate decisive flow features such as packet arrival rate, byte volume, and duration.</a:t>
            </a:r>
          </a:p>
          <a:p>
            <a:r>
              <a:rPr sz="1900">
                <a:latin typeface="Times New Roman"/>
              </a:rPr>
              <a:t>Supervised ML classifiers (Random Forest, Decision Tree, SVM) are trained and benchmarked, achieving high classification fidelity and minimal false-alarm overhead under diverse traffic patterns.</a:t>
            </a:r>
          </a:p>
          <a:p>
            <a:r>
              <a:rPr sz="1900">
                <a:latin typeface="Times New Roman"/>
              </a:rPr>
              <a:t>An interactive </a:t>
            </a:r>
            <a:r>
              <a:rPr sz="1900" b="1">
                <a:latin typeface="Times New Roman"/>
              </a:rPr>
              <a:t>attack detection dashboard</a:t>
            </a:r>
            <a:r>
              <a:rPr sz="1900">
                <a:latin typeface="Times New Roman"/>
              </a:rPr>
              <a:t> provides live traffic visualization, instantaneous alert notifications, and automated OpenFlow flow-drop mitigation to restore legitimate service throughput.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76627C-0AD9-609C-AD57-D97CA3D6B79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597B34-B486-081E-202F-F017BBCE8E3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8300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7296"/>
            <a:ext cx="10972800" cy="1143000"/>
          </a:xfrm>
        </p:spPr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514" y="1650180"/>
            <a:ext cx="11136086" cy="4761505"/>
          </a:xfr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sz="1750" b="1">
                <a:latin typeface="Times New Roman"/>
              </a:rPr>
              <a:t>Overview of the Project:</a:t>
            </a:r>
          </a:p>
          <a:p>
            <a:pPr marL="0" indent="0">
              <a:buNone/>
            </a:pPr>
            <a:r>
              <a:rPr sz="1750">
                <a:latin typeface="Times New Roman"/>
              </a:rPr>
              <a:t>The project implements an </a:t>
            </a:r>
            <a:r>
              <a:rPr sz="1750" b="1">
                <a:latin typeface="Times New Roman"/>
              </a:rPr>
              <a:t>intelligent ML-driven DDoS detection and mitigation framework for Software-Defined Networks (SDN)</a:t>
            </a:r>
            <a:r>
              <a:rPr sz="1750">
                <a:latin typeface="Times New Roman"/>
              </a:rPr>
              <a:t>. It combines real-time flow telemetry extraction, supervised machine learning, and automated mitigation to protect SDN controllers and maintain network availability.</a:t>
            </a:r>
          </a:p>
          <a:p>
            <a:pPr marL="0" indent="0">
              <a:buNone/>
            </a:pPr>
            <a:r>
              <a:rPr sz="1750" b="1">
                <a:latin typeface="Times New Roman"/>
              </a:rPr>
              <a:t>Problem Statement:</a:t>
            </a:r>
          </a:p>
          <a:p>
            <a:r>
              <a:rPr sz="1750">
                <a:latin typeface="Times New Roman"/>
              </a:rPr>
              <a:t>The centralized SDN control plane and OpenFlow channels are prime targets for </a:t>
            </a:r>
            <a:r>
              <a:rPr sz="1750" b="1">
                <a:latin typeface="Times New Roman"/>
              </a:rPr>
              <a:t>Distributed Denial-of-Service (DDoS) flooding attacks</a:t>
            </a:r>
            <a:r>
              <a:rPr sz="1750">
                <a:latin typeface="Times New Roman"/>
              </a:rPr>
              <a:t>. Volumetric SYN, UDP, and ICMP floods exhaust switch flow tables and overwhelm the controller, causing </a:t>
            </a:r>
            <a:r>
              <a:rPr sz="1750" b="1">
                <a:latin typeface="Times New Roman"/>
              </a:rPr>
              <a:t>controller starvation, latency spikes, and network breakdown</a:t>
            </a:r>
            <a:r>
              <a:rPr sz="1750">
                <a:latin typeface="Times New Roman"/>
              </a:rPr>
              <a:t>. Traditional signature-based IDS fail to detect evolving, multi-vector DDoS threats.</a:t>
            </a:r>
          </a:p>
          <a:p>
            <a:pPr marL="0" indent="0">
              <a:buNone/>
            </a:pPr>
            <a:r>
              <a:rPr sz="1750" b="1">
                <a:latin typeface="Times New Roman"/>
              </a:rPr>
              <a:t>Purpose of the Project:</a:t>
            </a:r>
          </a:p>
          <a:p>
            <a:r>
              <a:rPr sz="1750">
                <a:latin typeface="Times New Roman"/>
              </a:rPr>
              <a:t>To construct an automated SDN traffic collection and preprocessing pipeline extracting vital OpenFlow flow features.</a:t>
            </a:r>
          </a:p>
          <a:p>
            <a:r>
              <a:rPr sz="1750">
                <a:latin typeface="Times New Roman"/>
              </a:rPr>
              <a:t>To design, train, and validate machine learning models capable of high-accuracy, real-time DDoS classification.</a:t>
            </a:r>
          </a:p>
          <a:p>
            <a:r>
              <a:rPr sz="1750">
                <a:latin typeface="Times New Roman"/>
              </a:rPr>
              <a:t>To provide a centralized monitoring dashboard and dynamic mitigation mechanism that installs defensive flow-mod drop rules.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FBAB9-A1CB-5E5E-3195-401AF864B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74638"/>
            <a:ext cx="8741229" cy="1143000"/>
          </a:xfrm>
        </p:spPr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0CA01-CE53-740F-6637-CC0AA0C60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9942"/>
            <a:ext cx="10972800" cy="4384450"/>
          </a:xfrm>
        </p:spPr>
        <p:txBody>
          <a:bodyPr wrap="square">
            <a:normAutofit fontScale="70000" lnSpcReduction="20000"/>
          </a:bodyPr>
          <a:lstStyle/>
          <a:p>
            <a:pPr marL="0" indent="0">
              <a:buNone/>
            </a:pPr>
            <a:r>
              <a:rPr sz="2400" b="1">
                <a:latin typeface="Calibri"/>
              </a:rPr>
              <a:t>Tools and frameworks used:</a:t>
            </a:r>
          </a:p>
          <a:p>
            <a:r>
              <a:rPr sz="2300" b="1">
                <a:latin typeface="Calibri"/>
              </a:rPr>
              <a:t>Programming Language: </a:t>
            </a:r>
            <a:r>
              <a:rPr sz="2300">
                <a:latin typeface="Calibri"/>
              </a:rPr>
              <a:t>Python 3.x</a:t>
            </a:r>
          </a:p>
          <a:p>
            <a:r>
              <a:rPr sz="2300" b="1">
                <a:latin typeface="Calibri"/>
              </a:rPr>
              <a:t>SDN Controller &amp; Protocol: </a:t>
            </a:r>
            <a:r>
              <a:rPr sz="2300">
                <a:latin typeface="Calibri"/>
              </a:rPr>
              <a:t>Ryu Controller, OpenFlow v1.3</a:t>
            </a:r>
          </a:p>
          <a:p>
            <a:r>
              <a:rPr sz="2300" b="1">
                <a:latin typeface="Calibri"/>
              </a:rPr>
              <a:t>Network Emulation: </a:t>
            </a:r>
            <a:r>
              <a:rPr sz="2300">
                <a:latin typeface="Calibri"/>
              </a:rPr>
              <a:t>Mininet (Virtual SDN Topologies)</a:t>
            </a:r>
          </a:p>
          <a:p>
            <a:r>
              <a:rPr sz="2300" b="1">
                <a:latin typeface="Calibri"/>
              </a:rPr>
              <a:t>Machine Learning Libraries: </a:t>
            </a:r>
            <a:r>
              <a:rPr sz="2300">
                <a:latin typeface="Calibri"/>
              </a:rPr>
              <a:t>Scikit-learn, Pandas, NumPy</a:t>
            </a:r>
          </a:p>
          <a:p>
            <a:r>
              <a:rPr sz="2300" b="1">
                <a:latin typeface="Calibri"/>
              </a:rPr>
              <a:t>Visualization &amp; Dashboard: </a:t>
            </a:r>
            <a:r>
              <a:rPr sz="2300">
                <a:latin typeface="Calibri"/>
              </a:rPr>
              <a:t>Streamlit / Flask, Matplotlib, Plotly</a:t>
            </a:r>
          </a:p>
          <a:p>
            <a:r>
              <a:rPr sz="2300" b="1">
                <a:latin typeface="Calibri"/>
              </a:rPr>
              <a:t>Development Environment: </a:t>
            </a:r>
            <a:r>
              <a:rPr sz="2300">
                <a:latin typeface="Calibri"/>
              </a:rPr>
              <a:t>VS Code / Jupyter Notebook</a:t>
            </a:r>
          </a:p>
          <a:p>
            <a:pPr marL="0" indent="0">
              <a:buNone/>
            </a:pPr>
            <a:r>
              <a:rPr sz="2400" b="1">
                <a:latin typeface="Calibri"/>
              </a:rPr>
              <a:t>Development Approach:</a:t>
            </a:r>
          </a:p>
          <a:p>
            <a:r>
              <a:rPr sz="2300">
                <a:latin typeface="Calibri"/>
              </a:rPr>
              <a:t>Collect OpenFlow switch flow telemetry (packet count, byte count, flow duration, packet rate) at periodic intervals via the Ryu controller.</a:t>
            </a:r>
          </a:p>
          <a:p>
            <a:r>
              <a:rPr sz="2300">
                <a:latin typeface="Calibri"/>
              </a:rPr>
              <a:t>Apply data cleaning, min-max feature normalization, and feature selection to construct robust, high-dimensional training and testing feature sets.</a:t>
            </a:r>
          </a:p>
          <a:p>
            <a:r>
              <a:rPr sz="2300">
                <a:latin typeface="Calibri"/>
              </a:rPr>
              <a:t>Train supervised ML classifiers to predict attacks in real time, visualize network telemetry on a web dashboard, and deploy automated flow-drop rules.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CFD8D0-A7E8-EC38-046D-59F8A2F1E8C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FA4EAC-7469-189E-7DC4-AFB58148CB0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3887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041" y="274638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7AF3FB-18E0-7919-A1ED-CD202900A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793" y="2168425"/>
            <a:ext cx="11464413" cy="25938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BE698-453F-9761-5A04-B249AC6B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3541" y="211968"/>
            <a:ext cx="8924917" cy="1143000"/>
          </a:xfrm>
        </p:spPr>
        <p:txBody>
          <a:bodyPr>
            <a:normAutofit fontScale="90000"/>
          </a:bodyPr>
          <a:lstStyle/>
          <a:p>
            <a:r>
              <a:t>Module 1: SDN Traffic Data Collection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86CDA-85A7-67F3-680A-E6FFB12C4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884" y="1543383"/>
            <a:ext cx="5400000" cy="3843711"/>
          </a:xfr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sz="1750" b="1">
                <a:latin typeface="Times New Roman"/>
              </a:rPr>
              <a:t>Responsibilities</a:t>
            </a:r>
          </a:p>
          <a:p>
            <a:r>
              <a:rPr sz="1700">
                <a:latin typeface="Times New Roman"/>
              </a:rPr>
              <a:t>Query OpenFlow switches periodically for flow stats.</a:t>
            </a:r>
          </a:p>
          <a:p>
            <a:r>
              <a:rPr sz="1700">
                <a:latin typeface="Times New Roman"/>
              </a:rPr>
              <a:t>Extract flow metrics: packet count, bytes, duration, rate.</a:t>
            </a:r>
          </a:p>
          <a:p>
            <a:r>
              <a:rPr sz="1700">
                <a:latin typeface="Times New Roman"/>
              </a:rPr>
              <a:t>Handle missing values, infinities, and duplicate records.</a:t>
            </a:r>
          </a:p>
          <a:p>
            <a:r>
              <a:rPr sz="1700">
                <a:latin typeface="Times New Roman"/>
              </a:rPr>
              <a:t>Apply min-max normalization to scale features uniformly.</a:t>
            </a:r>
          </a:p>
          <a:p>
            <a:r>
              <a:rPr sz="1700">
                <a:latin typeface="Times New Roman"/>
              </a:rPr>
              <a:t>Perform feature selection for high-impact attributes.</a:t>
            </a:r>
          </a:p>
          <a:p>
            <a:pPr marL="0" indent="0">
              <a:buNone/>
            </a:pPr>
            <a:r>
              <a:rPr sz="1750" b="1">
                <a:latin typeface="Times New Roman"/>
              </a:rPr>
              <a:t>Technologies</a:t>
            </a:r>
          </a:p>
          <a:p>
            <a:r>
              <a:rPr sz="1700">
                <a:latin typeface="Times New Roman"/>
              </a:rPr>
              <a:t>Python 3.x</a:t>
            </a:r>
          </a:p>
          <a:p>
            <a:r>
              <a:rPr sz="1700">
                <a:latin typeface="Times New Roman"/>
              </a:rPr>
              <a:t>Ryu OpenFlow Controller / Mininet</a:t>
            </a:r>
          </a:p>
          <a:p>
            <a:r>
              <a:rPr sz="1700">
                <a:latin typeface="Times New Roman"/>
              </a:rPr>
              <a:t>Pandas, NumPy, Scikit-learn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C43046-A211-2E75-64DB-65C8466681F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F7ED9B-6AF8-F590-7555-9C5581286B4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45D192-C432-ECF8-04EB-B6DF5B83A31A}"/>
              </a:ext>
            </a:extLst>
          </p:cNvPr>
          <p:cNvSpPr txBox="1"/>
          <p:nvPr/>
        </p:nvSpPr>
        <p:spPr>
          <a:xfrm>
            <a:off x="6674628" y="3137722"/>
            <a:ext cx="30086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sz="1750" b="1">
                <a:latin typeface="Times New Roman"/>
              </a:rPr>
              <a:t>Deliverables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>
                <a:latin typeface="Times New Roman"/>
              </a:rPr>
              <a:t>Telemetry collection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>
                <a:latin typeface="Times New Roman"/>
              </a:rPr>
              <a:t>Preprocessed SDN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>
                <a:latin typeface="Times New Roman"/>
              </a:rPr>
              <a:t>Feature extraction pipeline</a:t>
            </a:r>
          </a:p>
        </p:txBody>
      </p:sp>
      <p:sp>
        <p:nvSpPr>
          <p:cNvPr id="10" name="Shape 29">
            <a:extLst>
              <a:ext uri="{FF2B5EF4-FFF2-40B4-BE49-F238E27FC236}">
                <a16:creationId xmlns:a16="http://schemas.microsoft.com/office/drawing/2014/main" id="{75CB83E8-EB0E-1E39-42A4-B1811B8B780D}"/>
              </a:ext>
            </a:extLst>
          </p:cNvPr>
          <p:cNvSpPr/>
          <p:nvPr/>
        </p:nvSpPr>
        <p:spPr>
          <a:xfrm>
            <a:off x="692666" y="5091552"/>
            <a:ext cx="11057865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12" name="Text 30">
            <a:extLst>
              <a:ext uri="{FF2B5EF4-FFF2-40B4-BE49-F238E27FC236}">
                <a16:creationId xmlns:a16="http://schemas.microsoft.com/office/drawing/2014/main" id="{35EE7796-E24F-ED5A-92FC-95F46DC78C79}"/>
              </a:ext>
            </a:extLst>
          </p:cNvPr>
          <p:cNvSpPr/>
          <p:nvPr/>
        </p:nvSpPr>
        <p:spPr>
          <a:xfrm>
            <a:off x="828756" y="5039622"/>
            <a:ext cx="100526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b="1">
                <a:solidFill>
                  <a:srgbClr val="3FBFB0"/>
                </a:solidFill>
                <a:latin typeface="Calibri"/>
              </a:rPr>
              <a:t>Example: Raw SDN Flow Telemetry → Preprocessed Feature Vector</a:t>
            </a:r>
            <a:endParaRPr lang="en-US" sz="1200" dirty="0"/>
          </a:p>
        </p:txBody>
      </p:sp>
      <p:sp>
        <p:nvSpPr>
          <p:cNvPr id="14" name="Text 31">
            <a:extLst>
              <a:ext uri="{FF2B5EF4-FFF2-40B4-BE49-F238E27FC236}">
                <a16:creationId xmlns:a16="http://schemas.microsoft.com/office/drawing/2014/main" id="{E031EED4-DEB7-26D2-765C-B06FF752E37F}"/>
              </a:ext>
            </a:extLst>
          </p:cNvPr>
          <p:cNvSpPr/>
          <p:nvPr/>
        </p:nvSpPr>
        <p:spPr>
          <a:xfrm>
            <a:off x="825910" y="5387094"/>
            <a:ext cx="5117690" cy="914400"/>
          </a:xfrm>
          <a:prstGeom prst="rect">
            <a:avLst/>
          </a:prstGeom>
          <a:solidFill>
            <a:srgbClr val="1029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>
                <a:solidFill>
                  <a:srgbClr val="E8EEF4"/>
                </a:solidFill>
                <a:latin typeface="Consolas"/>
              </a:rPr>
              <a:t>{ switch_id: "s1", duration: 12.4s, packet_count: 48920, byte_count: 58.7MB, flow_rate: 3945 pkts/s }</a:t>
            </a:r>
            <a:endParaRPr lang="en-US" sz="1050" dirty="0"/>
          </a:p>
        </p:txBody>
      </p:sp>
      <p:sp>
        <p:nvSpPr>
          <p:cNvPr id="16" name="Shape 32">
            <a:extLst>
              <a:ext uri="{FF2B5EF4-FFF2-40B4-BE49-F238E27FC236}">
                <a16:creationId xmlns:a16="http://schemas.microsoft.com/office/drawing/2014/main" id="{48FC365B-AE05-B217-F1E6-FCFDAFA16F82}"/>
              </a:ext>
            </a:extLst>
          </p:cNvPr>
          <p:cNvSpPr/>
          <p:nvPr/>
        </p:nvSpPr>
        <p:spPr>
          <a:xfrm>
            <a:off x="5989715" y="5661414"/>
            <a:ext cx="685405" cy="0"/>
          </a:xfrm>
          <a:prstGeom prst="line">
            <a:avLst/>
          </a:prstGeom>
          <a:noFill/>
          <a:ln w="31750">
            <a:solidFill>
              <a:srgbClr val="3FBFB0"/>
            </a:solidFill>
            <a:prstDash val="solid"/>
            <a:tailEnd type="triangle"/>
          </a:ln>
        </p:spPr>
      </p:sp>
      <p:sp>
        <p:nvSpPr>
          <p:cNvPr id="18" name="Text 33">
            <a:extLst>
              <a:ext uri="{FF2B5EF4-FFF2-40B4-BE49-F238E27FC236}">
                <a16:creationId xmlns:a16="http://schemas.microsoft.com/office/drawing/2014/main" id="{9F0F8BDF-A4DA-3682-DC54-A2B20DAC83D0}"/>
              </a:ext>
            </a:extLst>
          </p:cNvPr>
          <p:cNvSpPr/>
          <p:nvPr/>
        </p:nvSpPr>
        <p:spPr>
          <a:xfrm>
            <a:off x="6769247" y="5387094"/>
            <a:ext cx="4660753" cy="914400"/>
          </a:xfrm>
          <a:prstGeom prst="rect">
            <a:avLst/>
          </a:prstGeom>
          <a:solidFill>
            <a:srgbClr val="3FBFB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>
                <a:solidFill>
                  <a:srgbClr val="0B1F3A"/>
                </a:solidFill>
                <a:latin typeface="Consolas"/>
              </a:rPr>
              <a:t>{ norm_pkt_rate: 0.94, norm_byte_rate: 0.96, pktrate_ratio: 0.89, flow_entropy: 0.14, label: "DDoS" }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059672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8575-F778-CDCC-3909-BF6E3D209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468" y="274638"/>
            <a:ext cx="9021763" cy="1143000"/>
          </a:xfrm>
        </p:spPr>
        <p:txBody>
          <a:bodyPr>
            <a:normAutofit/>
          </a:bodyPr>
          <a:lstStyle/>
          <a:p>
            <a:r>
              <a:t>Module 2: Machine Learning-Based DDoS Detection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836AE-DF49-FCA1-12F6-A14A4DC47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8529" y="1872342"/>
            <a:ext cx="5797999" cy="4253821"/>
          </a:xfr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sz="1750" b="1">
                <a:latin typeface="Times New Roman"/>
              </a:rPr>
              <a:t>Responsibilities</a:t>
            </a:r>
          </a:p>
          <a:p>
            <a:r>
              <a:rPr sz="1700">
                <a:latin typeface="Times New Roman"/>
              </a:rPr>
              <a:t>Implement supervised classifiers (Random Forest, Decision Tree, SVM).</a:t>
            </a:r>
          </a:p>
          <a:p>
            <a:r>
              <a:rPr sz="1700">
                <a:latin typeface="Times New Roman"/>
              </a:rPr>
              <a:t>Analyze flow deviations to identify signature DDoS attack patterns.</a:t>
            </a:r>
          </a:p>
          <a:p>
            <a:r>
              <a:rPr sz="1700">
                <a:latin typeface="Times New Roman"/>
              </a:rPr>
              <a:t>Perform model training using stratified train-test splits (80/20).</a:t>
            </a:r>
          </a:p>
          <a:p>
            <a:r>
              <a:rPr sz="1700">
                <a:latin typeface="Times New Roman"/>
              </a:rPr>
              <a:t>Classify live incoming flow vectors into Normal vs DDoS traffic.</a:t>
            </a:r>
          </a:p>
          <a:p>
            <a:r>
              <a:rPr sz="1700">
                <a:latin typeface="Times New Roman"/>
              </a:rPr>
              <a:t>Evaluate accuracy, precision, recall, F1-score, and confusion matrix.</a:t>
            </a:r>
          </a:p>
          <a:p>
            <a:pPr marL="0" indent="0">
              <a:buNone/>
            </a:pPr>
            <a:r>
              <a:rPr sz="1750" b="1">
                <a:latin typeface="Times New Roman"/>
              </a:rPr>
              <a:t>Technologies</a:t>
            </a:r>
          </a:p>
          <a:p>
            <a:r>
              <a:rPr sz="1700">
                <a:latin typeface="Times New Roman"/>
              </a:rPr>
              <a:t>Python 3.x</a:t>
            </a:r>
          </a:p>
          <a:p>
            <a:r>
              <a:rPr sz="1700">
                <a:latin typeface="Times New Roman"/>
              </a:rPr>
              <a:t>Scikit-learn / XGBoost</a:t>
            </a:r>
          </a:p>
          <a:p>
            <a:r>
              <a:rPr sz="1700">
                <a:latin typeface="Times New Roman"/>
              </a:rPr>
              <a:t>NumPy, SciPy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0ABAA1-E926-1E99-C49E-A2CB8160EB3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5B8C23-21C0-7E07-DF74-A94C1A03EF3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0CD8DEA-4E57-E00E-92D9-CE0E318F56C5}"/>
              </a:ext>
            </a:extLst>
          </p:cNvPr>
          <p:cNvSpPr txBox="1"/>
          <p:nvPr/>
        </p:nvSpPr>
        <p:spPr>
          <a:xfrm>
            <a:off x="3913239" y="5103674"/>
            <a:ext cx="33429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sz="1750" b="1">
                <a:latin typeface="Times New Roman"/>
              </a:rPr>
              <a:t>Deliverables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>
                <a:latin typeface="Times New Roman"/>
              </a:rPr>
              <a:t>Trained ML classification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>
                <a:latin typeface="Times New Roman"/>
              </a:rPr>
              <a:t>Confusion matrix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>
                <a:latin typeface="Times New Roman"/>
              </a:rPr>
              <a:t>Real-time flow prediction engine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6947AD-DFA9-5F9E-1AA1-22B51327A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6207" y="1794707"/>
            <a:ext cx="4437382" cy="453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5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50C9A-5B89-7B3D-5301-B6D12D8DA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5D005-59DF-DDAA-E1FC-C931B422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468" y="274638"/>
            <a:ext cx="9021763" cy="1143000"/>
          </a:xfrm>
        </p:spPr>
        <p:txBody>
          <a:bodyPr>
            <a:normAutofit fontScale="90000"/>
          </a:bodyPr>
          <a:lstStyle/>
          <a:p>
            <a:r>
              <a:t>Module 3: Attack Detection Dashboard &amp; Performance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1C998-E582-9C99-CA33-AC6B1102A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8" y="1872342"/>
            <a:ext cx="3650000" cy="4253821"/>
          </a:xfr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sz="1750" b="1">
                <a:latin typeface="Times New Roman"/>
              </a:rPr>
              <a:t>Responsibilities</a:t>
            </a:r>
          </a:p>
          <a:p>
            <a:r>
              <a:rPr sz="1650">
                <a:latin typeface="Times New Roman"/>
              </a:rPr>
              <a:t>Monitor real-time SDN flow telemetry and switch load.</a:t>
            </a:r>
          </a:p>
          <a:p>
            <a:r>
              <a:rPr sz="1650">
                <a:latin typeface="Times New Roman"/>
              </a:rPr>
              <a:t>Render dynamic visualizations for normal vs attack flows.</a:t>
            </a:r>
          </a:p>
          <a:p>
            <a:pPr>
              <a:buNone/>
            </a:pPr>
            <a:r>
              <a:rPr sz="1700" b="1">
                <a:latin typeface="Times New Roman"/>
              </a:rPr>
              <a:t>Display:</a:t>
            </a:r>
          </a:p>
          <a:p>
            <a:pPr lvl="1"/>
            <a:r>
              <a:rPr sz="1600">
                <a:latin typeface="Times New Roman"/>
              </a:rPr>
              <a:t>Live Flow Telemetry Trends</a:t>
            </a:r>
          </a:p>
          <a:p>
            <a:pPr lvl="1"/>
            <a:r>
              <a:rPr sz="1600">
                <a:latin typeface="Times New Roman"/>
              </a:rPr>
              <a:t>Attack Severity &amp; Switch Alerts</a:t>
            </a:r>
          </a:p>
          <a:p>
            <a:pPr lvl="1"/>
            <a:r>
              <a:rPr sz="1600">
                <a:latin typeface="Times New Roman"/>
              </a:rPr>
              <a:t>Accuracy, Precision &amp; F1 Metrics</a:t>
            </a:r>
          </a:p>
          <a:p>
            <a:pPr lvl="1"/>
            <a:r>
              <a:rPr sz="1600">
                <a:latin typeface="Times New Roman"/>
              </a:rPr>
              <a:t>Confusion Matrix Breakdown</a:t>
            </a:r>
          </a:p>
          <a:p>
            <a:pPr lvl="1"/>
            <a:r>
              <a:rPr sz="1600">
                <a:latin typeface="Times New Roman"/>
              </a:rPr>
              <a:t>Active Mitigation &amp; Drop Status</a:t>
            </a:r>
          </a:p>
          <a:p>
            <a:r>
              <a:rPr sz="1650">
                <a:latin typeface="Times New Roman"/>
              </a:rPr>
              <a:t>Trigger automated flow-mod rules on Ryu controller.</a:t>
            </a:r>
          </a:p>
          <a:p>
            <a:r>
              <a:rPr sz="1650">
                <a:latin typeface="Times New Roman"/>
              </a:rPr>
              <a:t>Export comprehensive security evaluation reports.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DD4D70-FEC9-7D58-3B3B-3F23A45CEB2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F6AE20-AF74-E9FF-58C5-24ADD7ACCE9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DC0107-5B9D-4834-BF6A-4745BC01AEB0}"/>
              </a:ext>
            </a:extLst>
          </p:cNvPr>
          <p:cNvSpPr txBox="1"/>
          <p:nvPr/>
        </p:nvSpPr>
        <p:spPr>
          <a:xfrm>
            <a:off x="4331865" y="3264309"/>
            <a:ext cx="33429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sz="1700" b="1">
                <a:latin typeface="Times New Roman"/>
              </a:rPr>
              <a:t>Technologies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550">
                <a:latin typeface="Times New Roman"/>
              </a:rPr>
              <a:t>Streamlit / Flask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550">
                <a:latin typeface="Times New Roman"/>
              </a:rPr>
              <a:t>Plotly / Matplotlib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550">
                <a:latin typeface="Times New Roman"/>
              </a:rPr>
              <a:t>Ryu REST API</a:t>
            </a:r>
          </a:p>
          <a:p>
            <a:pPr>
              <a:buNone/>
            </a:pPr>
            <a:r>
              <a:rPr sz="1700" b="1">
                <a:latin typeface="Times New Roman"/>
              </a:rPr>
              <a:t>Deliverables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550">
                <a:latin typeface="Times New Roman"/>
              </a:rPr>
              <a:t>Interactive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550">
                <a:latin typeface="Times New Roman"/>
              </a:rPr>
              <a:t>Live Telemetry Charts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550">
                <a:latin typeface="Times New Roman"/>
              </a:rPr>
              <a:t>Mitigation Controller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C990C4-FB7F-13EC-F3FA-C2454919C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8703" y="2090729"/>
            <a:ext cx="4286047" cy="326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240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781" y="1988747"/>
            <a:ext cx="5889523" cy="3901441"/>
          </a:xfrm>
        </p:spPr>
        <p:txBody>
          <a:bodyPr wrap="square">
            <a:noAutofit/>
          </a:bodyPr>
          <a:lstStyle/>
          <a:p>
            <a:pPr algn="just"/>
            <a:r>
              <a:rPr sz="1900">
                <a:latin typeface="Times New Roman"/>
              </a:rPr>
              <a:t>The SDN simulation environment is established using Mininet with OpenFlow 1.3 switches connected to a centralized Ryu controller, generating baseline legitimate traffic alongside simulated high-rate DDoS flooding attacks (SYN, UDP, and ICMP floods).</a:t>
            </a:r>
          </a:p>
          <a:p>
            <a:pPr algn="just"/>
            <a:r>
              <a:rPr sz="1900">
                <a:latin typeface="Times New Roman"/>
              </a:rPr>
              <a:t>The flow telemetry module queries OpenFlow switches at regular intervals. Extracted flow metrics (duration, packet count, byte rate, and pair-flow ratios) are cleaned, normalized, and formatted into feature vectors for real-time inference.</a:t>
            </a:r>
          </a:p>
          <a:p>
            <a:pPr algn="just"/>
            <a:r>
              <a:rPr sz="1900">
                <a:latin typeface="Times New Roman"/>
              </a:rPr>
              <a:t>The trained machine learning classifier evaluates incoming flow vectors in real time. When malicious traffic is classified, the system immediately generates a dashboard security alert and automatically pushes defensive flow-mod drop rules to the ingress switch.</a:t>
            </a:r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051026C4-8531-B211-E56E-FDCB982F97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7535690"/>
              </p:ext>
            </p:extLst>
          </p:nvPr>
        </p:nvGraphicFramePr>
        <p:xfrm>
          <a:off x="6506988" y="1988748"/>
          <a:ext cx="5685012" cy="3901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90" y="2026124"/>
            <a:ext cx="10972800" cy="3883064"/>
          </a:xfrm>
        </p:spPr>
        <p:txBody>
          <a:bodyPr wrap="square">
            <a:noAutofit/>
          </a:bodyPr>
          <a:lstStyle/>
          <a:p>
            <a:pPr algn="just"/>
            <a:r>
              <a:rPr sz="2000">
                <a:latin typeface="Times New Roman"/>
              </a:rPr>
              <a:t>The proposed framework successfully collects and preprocesses SDN flow telemetry in real time without introducing observable controller latency or switch performance degradation.</a:t>
            </a:r>
          </a:p>
          <a:p>
            <a:pPr algn="just"/>
            <a:r>
              <a:rPr sz="2000">
                <a:latin typeface="Times New Roman"/>
              </a:rPr>
              <a:t>Feature engineering and min-max normalization effectively isolate anomalous volumetric flow deviations from legitimate multi-user network traffic.</a:t>
            </a:r>
          </a:p>
          <a:p>
            <a:pPr algn="just"/>
            <a:r>
              <a:rPr sz="2000">
                <a:latin typeface="Times New Roman"/>
              </a:rPr>
              <a:t>Machine learning classifiers demonstrated superior detection efficacy, with the </a:t>
            </a:r>
            <a:r>
              <a:rPr sz="2000" b="1">
                <a:latin typeface="Times New Roman"/>
              </a:rPr>
              <a:t>Random Forest classifier</a:t>
            </a:r>
            <a:r>
              <a:rPr sz="2000">
                <a:latin typeface="Times New Roman"/>
              </a:rPr>
              <a:t> achieving an expected </a:t>
            </a:r>
            <a:r>
              <a:rPr sz="2000" b="1">
                <a:latin typeface="Times New Roman"/>
              </a:rPr>
              <a:t>detection accuracy above 99%</a:t>
            </a:r>
            <a:r>
              <a:rPr sz="2000">
                <a:latin typeface="Times New Roman"/>
              </a:rPr>
              <a:t> and balanced precision and recall.</a:t>
            </a:r>
          </a:p>
          <a:p>
            <a:pPr algn="just"/>
            <a:r>
              <a:rPr sz="2000">
                <a:latin typeface="Times New Roman"/>
              </a:rPr>
              <a:t>The automated mitigation module promptly installs defensive OpenFlow flow-mod drop rules on ingress switches, </a:t>
            </a:r>
            <a:r>
              <a:rPr sz="2000" b="1">
                <a:latin typeface="Times New Roman"/>
              </a:rPr>
              <a:t>restoring legitimate network throughput to 96%</a:t>
            </a:r>
            <a:r>
              <a:rPr sz="2000">
                <a:latin typeface="Times New Roman"/>
              </a:rPr>
              <a:t> and effectively preventing control-plane starvation.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2200">
                <a:latin typeface="Times New Roman"/>
              </a:rPr>
              <a:t>The system can be enhanced with </a:t>
            </a:r>
            <a:r>
              <a:rPr sz="2200" b="1">
                <a:latin typeface="Times New Roman"/>
              </a:rPr>
              <a:t>Deep Learning architectures (LSTM, GRU, Autoencoders)</a:t>
            </a:r>
            <a:r>
              <a:rPr sz="2200">
                <a:latin typeface="Times New Roman"/>
              </a:rPr>
              <a:t> to detect slow, low-rate, and stealthy multi-vector DDoS attacks.</a:t>
            </a:r>
          </a:p>
          <a:p>
            <a:r>
              <a:rPr sz="2200" b="1">
                <a:latin typeface="Times New Roman"/>
              </a:rPr>
              <a:t>Distributed SDN controller clustering</a:t>
            </a:r>
            <a:r>
              <a:rPr sz="2200">
                <a:latin typeface="Times New Roman"/>
              </a:rPr>
              <a:t> (e.g., ONOS or OpenDaylight) with federated learning can be integrated to coordinate threat intelligence across multi-domain network topologies.</a:t>
            </a:r>
          </a:p>
          <a:p>
            <a:r>
              <a:rPr sz="2200" b="1">
                <a:latin typeface="Times New Roman"/>
              </a:rPr>
              <a:t>Programmable Data Plane switches (P4)</a:t>
            </a:r>
            <a:r>
              <a:rPr sz="2200">
                <a:latin typeface="Times New Roman"/>
              </a:rPr>
              <a:t> can be incorporated to offload feature extraction and line-rate packet filtering directly to switch hardware, eliminating controller communication latency.</a:t>
            </a:r>
          </a:p>
          <a:p>
            <a:r>
              <a:rPr sz="2200" b="1">
                <a:latin typeface="Times New Roman"/>
              </a:rPr>
              <a:t>Autonomous online retraining</a:t>
            </a:r>
            <a:r>
              <a:rPr sz="2200">
                <a:latin typeface="Times New Roman"/>
              </a:rPr>
              <a:t> can be implemented to dynamically update classification models against zero-day exploits and polymorphic DDoS attack patterns.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 algn="l">
              <a:buNone/>
            </a:pPr>
            <a:r>
              <a:rPr sz="2200" b="1">
                <a:solidFill>
                  <a:srgbClr val="0E4C71"/>
                </a:solidFill>
                <a:latin typeface="Calibri"/>
              </a:rPr>
              <a:t>Conclusion &amp; Summary:</a:t>
            </a:r>
          </a:p>
          <a:p>
            <a:pPr marL="0" indent="0" algn="l">
              <a:buNone/>
            </a:pPr>
            <a:r>
              <a:rPr sz="1800">
                <a:latin typeface="Times New Roman"/>
              </a:rPr>
              <a:t>•  Formulated an intelligent Machine Learning framework for real-time DDoS attack detection and mitigation in SDN.</a:t>
            </a:r>
            <a:endParaRPr lang="en-IN" dirty="0"/>
          </a:p>
          <a:p>
            <a:pPr marL="0" indent="0" algn="l">
              <a:buNone/>
            </a:pPr>
            <a:r>
              <a:rPr sz="1800">
                <a:latin typeface="Times New Roman"/>
              </a:rPr>
              <a:t>•  Integrated a complete 3-module pipeline: OpenFlow telemetry extraction, supervised ML inference, and dashboard monitoring.</a:t>
            </a:r>
            <a:endParaRPr lang="en-IN" dirty="0"/>
          </a:p>
          <a:p>
            <a:pPr marL="0" indent="0" algn="l">
              <a:buNone/>
            </a:pPr>
            <a:r>
              <a:rPr sz="1800">
                <a:latin typeface="Times New Roman"/>
              </a:rPr>
              <a:t>•  Verified strong defensive efficacy, restoring legitimate network throughput while protecting controller resources.</a:t>
            </a:r>
          </a:p>
          <a:p>
            <a:pPr algn="ctr">
              <a:buNone/>
            </a:pPr>
            <a:endParaRPr sz="1800">
              <a:latin typeface="Times New Roman"/>
            </a:endParaRPr>
          </a:p>
          <a:p>
            <a:pPr algn="ctr">
              <a:buNone/>
            </a:pPr>
            <a:r>
              <a:rPr sz="5200" b="1">
                <a:solidFill>
                  <a:srgbClr val="0E4C71"/>
                </a:solidFill>
                <a:latin typeface="Calibri"/>
              </a:rPr>
              <a:t>Thank You!</a:t>
            </a:r>
          </a:p>
          <a:p>
            <a:pPr algn="ctr">
              <a:buNone/>
            </a:pPr>
            <a:r>
              <a:rPr sz="1800">
                <a:solidFill>
                  <a:srgbClr val="64748B"/>
                </a:solidFill>
                <a:latin typeface="Calibri"/>
              </a:rPr>
              <a:t>Questions &amp; Answers | CSA1006 - Software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1223</Words>
  <Application>Microsoft Office PowerPoint</Application>
  <PresentationFormat>Widescreen</PresentationFormat>
  <Paragraphs>111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Consolas</vt:lpstr>
      <vt:lpstr>Times New Roman</vt:lpstr>
      <vt:lpstr>Office Theme</vt:lpstr>
      <vt:lpstr>An Intelligent Machine Learning Framework for Detecting and Mitigating DDoS Attacks in Software-Defined Networks</vt:lpstr>
      <vt:lpstr>Abstract</vt:lpstr>
      <vt:lpstr>Introduction</vt:lpstr>
      <vt:lpstr>Methodology</vt:lpstr>
      <vt:lpstr>System Design</vt:lpstr>
      <vt:lpstr>Module 1: SDN Traffic Data Collection &amp; Preprocessing</vt:lpstr>
      <vt:lpstr>Module 2: Machine Learning-Based DDoS Detection Model</vt:lpstr>
      <vt:lpstr>Module 3: Attack Detection Dashboard &amp; Performance Evaluation</vt:lpstr>
      <vt:lpstr>Implementation</vt:lpstr>
      <vt:lpstr>Results &amp; Discussion</vt:lpstr>
      <vt:lpstr>Future Scope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subject/>
  <dc:creator>sankar</dc:creator>
  <cp:keywords/>
  <dc:description>generated using python-pptx</dc:description>
  <cp:lastModifiedBy>mokshith reddy</cp:lastModifiedBy>
  <cp:revision>8</cp:revision>
  <dcterms:created xsi:type="dcterms:W3CDTF">2013-01-27T09:14:16Z</dcterms:created>
  <dcterms:modified xsi:type="dcterms:W3CDTF">2026-09-03T10:08:03Z</dcterms:modified>
  <cp:category/>
</cp:coreProperties>
</file>