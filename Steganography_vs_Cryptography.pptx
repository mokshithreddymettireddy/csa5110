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1371600" cy="13716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1179576"/>
            <a:ext cx="658368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784080" y="1828800"/>
            <a:ext cx="1371600" cy="13716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696" y="2185416"/>
            <a:ext cx="658368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 vs  CRYPTOGRAPHY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94360" y="27432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Security in the Digital World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disciplines, one goal: keeping information safe from unwanted eyes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617720"/>
            <a:ext cx="0" cy="0"/>
          </a:xfrm>
          <a:prstGeom prst="line">
            <a:avLst/>
          </a:prstGeom>
          <a:noFill/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Concealment  •  Confidentiality  •  Digital Trust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681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73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965960" y="16642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&amp; Steganography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0116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definitions and how each discipline protects information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496312"/>
            <a:ext cx="1088136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27825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87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965960" y="25786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One Works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965960" y="29260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flow for encryption and data hiding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410712"/>
            <a:ext cx="1088136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69691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5021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965960" y="34930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Techniques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965960" y="38404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Symmetric/asymmetric crypto and image, audio, text steganography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4325112"/>
            <a:ext cx="1088136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461131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4165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965960" y="44074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&amp; Trade-offs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965960" y="47548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comparison, strengths, and limitations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0080" y="5239512"/>
            <a:ext cx="1088136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552571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53309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1965960" y="53218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Use &amp; Real-World Applications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1965960" y="5669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strongest systems use both together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Cryptography?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1204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933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scrambling information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transforms readable data (plaintext) into an unreadable form (ciphertext) using mathematical algorithms and keys. Anyone can see that a message exists and was encrypted — but without the key, its content is meaningless.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9592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9044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confidentiality of content, not its existence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7997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42885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mathematically hard problems and secret keys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6402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46725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by NIST/ISO; strength is measurable in bits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720840" y="1691640"/>
            <a:ext cx="4937760" cy="4297680"/>
          </a:xfrm>
          <a:prstGeom prst="roundRect">
            <a:avLst>
              <a:gd name="adj" fmla="val 1702"/>
            </a:avLst>
          </a:prstGeom>
          <a:solidFill>
            <a:srgbClr val="0B2545"/>
          </a:solidFill>
          <a:ln/>
        </p:spPr>
      </p:sp>
      <p:sp>
        <p:nvSpPr>
          <p:cNvPr id="16" name="Text 10"/>
          <p:cNvSpPr/>
          <p:nvPr/>
        </p:nvSpPr>
        <p:spPr>
          <a:xfrm>
            <a:off x="7086600" y="2057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086600" y="237744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269480" y="2377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“Meet at 9 PM”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915400" y="3154680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8046" y="3297326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703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with key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7086600" y="4069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086600" y="438912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0F2C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269480" y="4389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X$k9#!zQ7Ωδμ2@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086600" y="5257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— but unreadable without the key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Steganography?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297680"/>
          </a:xfrm>
          <a:prstGeom prst="roundRect">
            <a:avLst>
              <a:gd name="adj" fmla="val 1702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Image + Secret Message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🖼️  photo.png  +  “hidden note”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3154680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5846" y="32973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703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inside pixel/audio data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4069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Stego-Object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438912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3A2A12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389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🖼️  photo.png  (looks identical)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5257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— no one suspects a secret exists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15000" y="1691640"/>
            <a:ext cx="59436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1965960"/>
            <a:ext cx="594360" cy="59436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574" y="2120494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12280" y="19933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hiding data in plain sight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035040" y="274320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conceals the very existence of a message by embedding it inside an ordinary-looking carrier — an image, audio clip, video, or text file — so an observer sees nothing unusual at all.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95928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39044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existence of communication itself</a:t>
            </a:r>
            <a:endParaRPr lang="en-US" sz="12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37997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0" y="42885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imperceptible changes to a cover medium</a:t>
            </a:r>
            <a:endParaRPr lang="en-US" sz="12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764024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09360" y="46725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measured by undetectability, not key strength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· CRYPTOGRAPHY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Cryptography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633472"/>
            <a:ext cx="548640" cy="54864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806" y="27761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readable message or file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3429000"/>
            <a:ext cx="201168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70632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56432" y="2633472"/>
            <a:ext cx="548640" cy="54864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078" y="2776118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62072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+ Key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2880360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(e.g. AES) transforms data using a secret key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429000"/>
            <a:ext cx="201168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46904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0F2C50"/>
          </a:solidFill>
          <a:ln w="19050">
            <a:solidFill>
              <a:srgbClr val="00B4A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32704" y="2633472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350" y="2776118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38344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056632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Scrambled, unreadable output — safe to transmit or store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3429000"/>
            <a:ext cx="201168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123176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808976" y="2633472"/>
            <a:ext cx="548640" cy="54864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1622" y="2776118"/>
            <a:ext cx="263347" cy="26334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214616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+ Key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232904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 paired key reverses the transformation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1704" y="3429000"/>
            <a:ext cx="201168" cy="18288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299448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9985248" y="2633472"/>
            <a:ext cx="548640" cy="54864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7894" y="2776118"/>
            <a:ext cx="263347" cy="263347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390888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9409176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message recovered exactly, by the intended party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594360" y="50749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E6F7F5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321808"/>
            <a:ext cx="365760" cy="36576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371600" y="507492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depends entirely on the secrecy and strength of the key — the algorithm itself is usually public and openly reviewed.</a:t>
            </a:r>
            <a:endParaRPr lang="en-US" sz="1300" dirty="0"/>
          </a:p>
        </p:txBody>
      </p:sp>
      <p:sp>
        <p:nvSpPr>
          <p:cNvPr id="36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· STEGANOGRAPHY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Steganography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633472"/>
            <a:ext cx="548640" cy="54864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806" y="27761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Medium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ordinary image, audio, or video file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3429000"/>
            <a:ext cx="201168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70632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56432" y="2633472"/>
            <a:ext cx="548640" cy="54864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078" y="2776118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62072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Message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2880360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be concealed inside the cover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429000"/>
            <a:ext cx="201168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46904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3A2A12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32704" y="2633472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350" y="2776118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38344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056632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bits replace imperceptible details (e.g. least-significant bits)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3429000"/>
            <a:ext cx="201168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123176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808976" y="2633472"/>
            <a:ext cx="548640" cy="54864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1622" y="2776118"/>
            <a:ext cx="263347" cy="26334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214616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Stego-Object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232904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looks/sounds identical to the original cover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1704" y="3429000"/>
            <a:ext cx="201168" cy="18288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299448" y="2377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2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9985248" y="2633472"/>
            <a:ext cx="548640" cy="54864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7894" y="2776118"/>
            <a:ext cx="263347" cy="263347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390888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9409176" y="37033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runs the reverse algorithm to recover the message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594360" y="50749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BF0DE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321808"/>
            <a:ext cx="365760" cy="36576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371600" y="507492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depends on the secrecy of the embedding method itself — once an observer knows to look, the hidden data is often easy to extract.</a:t>
            </a:r>
            <a:endParaRPr lang="en-US" sz="1300" dirty="0"/>
          </a:p>
        </p:txBody>
      </p:sp>
      <p:sp>
        <p:nvSpPr>
          <p:cNvPr id="36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Cryptography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Symmetric-Key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secret key encrypts and decrypts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4663440"/>
            <a:ext cx="278892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8006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AES, DES, 3DES — fast, ideal for bulk 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23152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971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Asymmetric-Key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17720" y="35204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key encrypts; only the paired private key decrypts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617720" y="4663440"/>
            <a:ext cx="278892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48006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RSA, ECC — solves key-distribution, enables digital signatures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0100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214884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23152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2971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21040" y="35204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fingerprint of data; not reversible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321040" y="4663440"/>
            <a:ext cx="278892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21040" y="48006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— verifies integrity, stores passwords safely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Steganography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40280"/>
            <a:ext cx="640080" cy="64008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5661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bits hidden in pixel color values (LSB encoding)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3108" y="2240280"/>
            <a:ext cx="640080" cy="64008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529" y="24067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38728" y="35661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embedded in inaudible frequency or bit variations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17336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4596" y="2240280"/>
            <a:ext cx="640080" cy="64008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017" y="24067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0216" y="35661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image + audio techniques across frames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78824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16084" y="2240280"/>
            <a:ext cx="640080" cy="64008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505" y="24067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15984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061704" y="35661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via spacing, invisible characters, or word choice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94360" y="571500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BF0D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8978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571500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related field, network steganography, hides data inside protocol headers or packet timing.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74320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691640"/>
            <a:ext cx="397764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69164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691640"/>
            <a:ext cx="397764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69164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74320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585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258568"/>
            <a:ext cx="397764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25856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 unreadable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2258568"/>
            <a:ext cx="397764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225856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 undetectable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82549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2549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825496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825496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is visible, obviously encrypted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825496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825496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data is invisible; carrier looks normal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392424"/>
            <a:ext cx="274320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3924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security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392424"/>
            <a:ext cx="397764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392424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Strength/secrecy of the key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3392424"/>
            <a:ext cx="397764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3392424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Secrecy of the embedding method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95935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9593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discovered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37560" y="3959352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95935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stays safe as long as key holds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3959352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95935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found, message is usually easy to read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4526280"/>
            <a:ext cx="274320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526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capacity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37560" y="4526280"/>
            <a:ext cx="397764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452628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practical limit on message size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4526280"/>
            <a:ext cx="3977640" cy="566928"/>
          </a:xfrm>
          <a:prstGeom prst="rect">
            <a:avLst/>
          </a:prstGeom>
          <a:solidFill>
            <a:srgbClr val="EEF2F8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452628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size of the cover medium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" y="509320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0932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tools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37560" y="5093208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509320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AES, RSA, SHA-256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15200" y="5093208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509320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encoding, spread spectrum, masking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1576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4712" y="2624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provable strength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8152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24712" y="29900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at massive scale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4728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24712" y="3355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standardized and audited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8620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24712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draws attention to itself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5196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24712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is a real burden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617720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24712" y="4526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Regulated/restricted in some countries</a:t>
            </a:r>
            <a:endParaRPr lang="en-US" sz="1150" dirty="0"/>
          </a:p>
        </p:txBody>
      </p:sp>
      <p:sp>
        <p:nvSpPr>
          <p:cNvPr id="20" name="Shape 11"/>
          <p:cNvSpPr/>
          <p:nvPr/>
        </p:nvSpPr>
        <p:spPr>
          <a:xfrm>
            <a:off x="5989320" y="169164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C2">
                <a:alpha val="2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6263640" y="1920240"/>
            <a:ext cx="548640" cy="54864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6286" y="2062886"/>
            <a:ext cx="263347" cy="263347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8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2715768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519672" y="2624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of the message stays hidden</a:t>
            </a:r>
            <a:endParaRPr lang="en-US" sz="11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3081528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519672" y="29900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obvious flag for surveillance</a:t>
            </a:r>
            <a:endParaRPr lang="en-US" sz="11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3447288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519672" y="3355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carry crypto for a second layer</a:t>
            </a:r>
            <a:endParaRPr lang="en-US" sz="115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3886200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519672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capacity vs. cover size</a:t>
            </a:r>
            <a:endParaRPr lang="en-US" sz="115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4251960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519672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by statistical analysis</a:t>
            </a:r>
            <a:endParaRPr lang="en-US" sz="115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40" y="4617720"/>
            <a:ext cx="182880" cy="18288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519672" y="4526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protection once discovered</a:t>
            </a:r>
            <a:endParaRPr lang="en-US" sz="1150" dirty="0"/>
          </a:p>
        </p:txBody>
      </p:sp>
      <p:sp>
        <p:nvSpPr>
          <p:cNvPr id="36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37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Both: Layered Security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approach doesn't choose one — it encrypts first, then hides the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331720" cy="1920240"/>
          </a:xfrm>
          <a:prstGeom prst="roundRect">
            <a:avLst>
              <a:gd name="adj" fmla="val 4286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6212" y="256032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368" y="2712476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33756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Message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154680"/>
            <a:ext cx="219456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0" y="2286000"/>
            <a:ext cx="2331720" cy="1920240"/>
          </a:xfrm>
          <a:prstGeom prst="roundRect">
            <a:avLst>
              <a:gd name="adj" fmla="val 4286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47972" y="256032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128" y="2712476"/>
            <a:ext cx="280904" cy="2809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84448" y="333756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(Cryptography)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154680"/>
            <a:ext cx="219456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126480" y="2286000"/>
            <a:ext cx="2331720" cy="1920240"/>
          </a:xfrm>
          <a:prstGeom prst="roundRect">
            <a:avLst>
              <a:gd name="adj" fmla="val 4286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999732" y="256032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888" y="2712476"/>
            <a:ext cx="280904" cy="2809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36208" y="333756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in Cover File (Steganography)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154680"/>
            <a:ext cx="219456" cy="1828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778240" y="2286000"/>
            <a:ext cx="2331720" cy="1920240"/>
          </a:xfrm>
          <a:prstGeom prst="roundRect">
            <a:avLst>
              <a:gd name="adj" fmla="val 4286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9651492" y="256032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3648" y="2712476"/>
            <a:ext cx="280904" cy="28090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887968" y="333756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Ordinary-Looking Output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822960" y="466344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0F2C50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4937760"/>
            <a:ext cx="502920" cy="5029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828800" y="4663440"/>
            <a:ext cx="9235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an attacker suspects and extracts the hidden payload, they still face full encryption. Even if they somehow broke the encryption, they'd first have to know a secret was hidden at all.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8932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68880"/>
            <a:ext cx="594360" cy="59436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62341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3134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26791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nearly all web traffic and online banking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35661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886200"/>
            <a:ext cx="594360" cy="59436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40407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37307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409651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transactions, card data, and digital signatures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" y="49834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5303520"/>
            <a:ext cx="594360" cy="59436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545805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51480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600200" y="5513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in WhatsApp, Signal, iMessage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89320" y="2148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0" y="2468880"/>
            <a:ext cx="594360" cy="59436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454" y="262341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3134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995160" y="26791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ownership/copyright info invisibly in media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989320" y="35661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217920" y="3886200"/>
            <a:ext cx="594360" cy="59436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454" y="404073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95160" y="37307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Communication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995160" y="409651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and activists evading censorship or surveillance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989320" y="49834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2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5303520"/>
            <a:ext cx="594360" cy="594360"/>
          </a:xfrm>
          <a:prstGeom prst="ellipse">
            <a:avLst/>
          </a:prstGeom>
          <a:solidFill>
            <a:srgbClr val="FBF0D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454" y="545805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95160" y="51480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Concealment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995160" y="5513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(Defensive awareness) attackers hide payloads in images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3033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protects content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3500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information unreadable to anyone without the key — visible, but meaningless.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65760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38121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45643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protects existence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38587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hides the fact that a secret is being communicated at all.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3315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516636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53208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96519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they're stronger than either alone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536752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Encrypt, then conceal — layered security defeats both interception and detection.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1371600" cy="13716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1179576"/>
            <a:ext cx="658368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784080" y="1828800"/>
            <a:ext cx="1371600" cy="13716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696" y="2185416"/>
            <a:ext cx="658368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58368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 Cryptography — Hidden Security in the Digital World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2026-08-05T05:14:21Z</dcterms:created>
  <dcterms:modified xsi:type="dcterms:W3CDTF">2026-08-05T05:14:21Z</dcterms:modified>
</cp:coreProperties>
</file>